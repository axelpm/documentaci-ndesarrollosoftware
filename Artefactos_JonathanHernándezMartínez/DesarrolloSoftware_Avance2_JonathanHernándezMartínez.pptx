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8" r:id="rId11"/>
    <p:sldId id="264" r:id="rId12"/>
    <p:sldId id="265" r:id="rId13"/>
    <p:sldId id="263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1B936B-50FC-4AF7-BF71-6C239FFE36E9}" v="42" dt="2023-06-01T06:01:26.5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sng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Tiempo Total Por CU</a:t>
            </a:r>
          </a:p>
        </c:rich>
      </c:tx>
      <c:layout>
        <c:manualLayout>
          <c:xMode val="edge"/>
          <c:yMode val="edge"/>
          <c:x val="0.40720045931758531"/>
          <c:y val="4.44444444444444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sng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Tiempo 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43-4E65-8FE4-3608F1CD7F2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43-4E65-8FE4-3608F1CD7F2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D34-47A3-BFF3-A68D05CADEA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D34-47A3-BFF3-A68D05CADEA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A43-4E65-8FE4-3608F1CD7F2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A43-4E65-8FE4-3608F1CD7F2D}"/>
              </c:ext>
            </c:extLst>
          </c:dPt>
          <c:dLbls>
            <c:dLbl>
              <c:idx val="2"/>
              <c:layout>
                <c:manualLayout>
                  <c:x val="-7.9770259186351708E-2"/>
                  <c:y val="-3.9000729075532224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D34-47A3-BFF3-A68D05CADEA7}"/>
                </c:ext>
              </c:extLst>
            </c:dLbl>
            <c:dLbl>
              <c:idx val="3"/>
              <c:layout>
                <c:manualLayout>
                  <c:x val="-5.7917896981627297E-2"/>
                  <c:y val="-9.9764216972878392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D34-47A3-BFF3-A68D05CADEA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sng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Hoja1!$A$2:$A$7</c:f>
              <c:strCache>
                <c:ptCount val="6"/>
                <c:pt idx="0">
                  <c:v>CU02 Crear contratos</c:v>
                </c:pt>
                <c:pt idx="1">
                  <c:v>CU06 Crear registro prendario</c:v>
                </c:pt>
                <c:pt idx="2">
                  <c:v>CU17 Imprimir tickets</c:v>
                </c:pt>
                <c:pt idx="3">
                  <c:v>CU22 Generar reporte de ventas</c:v>
                </c:pt>
                <c:pt idx="4">
                  <c:v>CU12 Buscar artículos</c:v>
                </c:pt>
                <c:pt idx="5">
                  <c:v>CU36 Dar ganancia cliente</c:v>
                </c:pt>
              </c:strCache>
            </c:strRef>
          </c:cat>
          <c:val>
            <c:numRef>
              <c:f>Hoja1!$B$2:$B$7</c:f>
              <c:numCache>
                <c:formatCode>h:mm</c:formatCode>
                <c:ptCount val="6"/>
                <c:pt idx="0">
                  <c:v>0.625</c:v>
                </c:pt>
                <c:pt idx="1">
                  <c:v>0.41319444444444442</c:v>
                </c:pt>
                <c:pt idx="2">
                  <c:v>0.22013888888888888</c:v>
                </c:pt>
                <c:pt idx="3">
                  <c:v>0.21319444444444444</c:v>
                </c:pt>
                <c:pt idx="4">
                  <c:v>0.43402777777777773</c:v>
                </c:pt>
                <c:pt idx="5">
                  <c:v>0.25208333333333333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34-47A3-BFF3-A68D05CADE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040272309711287"/>
          <c:y val="0.87619714202391363"/>
          <c:w val="0.61711113845144361"/>
          <c:h val="7.00991542723826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sng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u="sng"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>
        <c:manualLayout>
          <c:layoutTarget val="inner"/>
          <c:xMode val="edge"/>
          <c:yMode val="edge"/>
          <c:x val="0.34404546927161828"/>
          <c:y val="0.29421267848403676"/>
          <c:w val="0.31190920231572128"/>
          <c:h val="0.62031163814946677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Horas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77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069-46A6-9AE6-C99A1E9C431C}"/>
              </c:ext>
            </c:extLst>
          </c:dPt>
          <c:dPt>
            <c:idx val="1"/>
            <c:bubble3D val="0"/>
            <c:spPr>
              <a:solidFill>
                <a:schemeClr val="accent6">
                  <a:shade val="7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0930-4972-9C43-2867BD3C49FF}"/>
              </c:ext>
            </c:extLst>
          </c:dPt>
          <c:dPt>
            <c:idx val="2"/>
            <c:bubble3D val="0"/>
            <c:spPr>
              <a:solidFill>
                <a:schemeClr val="accent6">
                  <a:shade val="8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FDB7-4AF6-A63F-31AD3E99B8B3}"/>
              </c:ext>
            </c:extLst>
          </c:dPt>
          <c:dLbls>
            <c:dLbl>
              <c:idx val="0"/>
              <c:layout>
                <c:manualLayout>
                  <c:x val="3.7567084078711857E-2"/>
                  <c:y val="3.5577049945415841E-3"/>
                </c:manualLayout>
              </c:layout>
              <c:dLblPos val="bestFit"/>
              <c:showLegendKey val="1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69-46A6-9AE6-C99A1E9C431C}"/>
                </c:ext>
              </c:extLst>
            </c:dLbl>
            <c:dLbl>
              <c:idx val="1"/>
              <c:layout>
                <c:manualLayout>
                  <c:x val="-0.16457960644007155"/>
                  <c:y val="-0.26327016959607724"/>
                </c:manualLayout>
              </c:layout>
              <c:tx>
                <c:rich>
                  <a:bodyPr/>
                  <a:lstStyle/>
                  <a:p>
                    <a:fld id="{9F1DF60C-1496-4FF2-994F-BA09F8C3530E}" type="VALUE">
                      <a:rPr lang="en-US" b="1"/>
                      <a:pPr/>
                      <a:t>[VALOR]</a:t>
                    </a:fld>
                    <a:r>
                      <a:rPr lang="en-US" baseline="0" dirty="0"/>
                      <a:t>, </a:t>
                    </a:r>
                    <a:fld id="{4746534A-4906-4D34-9FAD-3A3577CA6082}" type="PERCENTAGE">
                      <a:rPr lang="en-US" baseline="0"/>
                      <a:pPr/>
                      <a:t>[PORCENTAJE]</a:t>
                    </a:fld>
                    <a:endParaRPr lang="en-US" baseline="0" dirty="0"/>
                  </a:p>
                </c:rich>
              </c:tx>
              <c:dLblPos val="bestFit"/>
              <c:showLegendKey val="1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0930-4972-9C43-2867BD3C49FF}"/>
                </c:ext>
              </c:extLst>
            </c:dLbl>
            <c:dLbl>
              <c:idx val="2"/>
              <c:layout>
                <c:manualLayout>
                  <c:x val="-0.10196779964221825"/>
                  <c:y val="-3.5577049945415841E-3"/>
                </c:manualLayout>
              </c:layout>
              <c:dLblPos val="bestFit"/>
              <c:showLegendKey val="1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DB7-4AF6-A63F-31AD3E99B8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1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Diseño</c:v>
                </c:pt>
                <c:pt idx="1">
                  <c:v>Construccion</c:v>
                </c:pt>
                <c:pt idx="2">
                  <c:v>Pruebas</c:v>
                </c:pt>
              </c:strCache>
            </c:strRef>
          </c:cat>
          <c:val>
            <c:numRef>
              <c:f>Hoja1!$B$2:$B$4</c:f>
              <c:numCache>
                <c:formatCode>[h]:mm:ss</c:formatCode>
                <c:ptCount val="3"/>
                <c:pt idx="0" formatCode="h:mm">
                  <c:v>0.28055555555555556</c:v>
                </c:pt>
                <c:pt idx="1">
                  <c:v>1.7347222222222223</c:v>
                </c:pt>
                <c:pt idx="2" formatCode="h:mm">
                  <c:v>0.1423611111111111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30-4972-9C43-2867BD3C49F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3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11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27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6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5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61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3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7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1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10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85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3147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79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95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04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83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7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C8322F6-1C60-46CF-968C-BC20E470F443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EEB83C2-341F-4C28-A243-1C56DDDA54D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48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0B177-A652-4CA5-4B42-3C666AC2F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/>
              <a:t>Avance</a:t>
            </a:r>
            <a:br>
              <a:rPr lang="es-419" dirty="0"/>
            </a:br>
            <a:r>
              <a:rPr lang="es-419" dirty="0"/>
              <a:t>01/06/2023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37F8DA-8879-5707-874F-AC04DB0467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419" dirty="0"/>
              <a:t>Jonathan </a:t>
            </a:r>
            <a:r>
              <a:rPr lang="es-419"/>
              <a:t>Hernández </a:t>
            </a:r>
            <a:r>
              <a:rPr lang="es-419" dirty="0"/>
              <a:t>M</a:t>
            </a:r>
            <a:r>
              <a:rPr lang="es-419"/>
              <a:t>artínez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32819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3721E-80A7-4707-DC3D-E922D621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Agenda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7A4E8E-E4E6-0993-986A-7BEFFB6F9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419" sz="2800" dirty="0"/>
              <a:t>Tareas asignadas y estatus</a:t>
            </a:r>
          </a:p>
          <a:p>
            <a:r>
              <a:rPr lang="es-419" sz="2800" dirty="0"/>
              <a:t>Tiempos por categoría</a:t>
            </a:r>
          </a:p>
          <a:p>
            <a:r>
              <a:rPr lang="es-419" sz="2800" dirty="0"/>
              <a:t>Total de horas trabajadas </a:t>
            </a:r>
          </a:p>
          <a:p>
            <a:r>
              <a:rPr lang="es-419" sz="2800" dirty="0"/>
              <a:t>Tiempo por CU</a:t>
            </a:r>
          </a:p>
          <a:p>
            <a:r>
              <a:rPr lang="es-419" sz="2800" dirty="0"/>
              <a:t>Factor de productividad</a:t>
            </a:r>
          </a:p>
          <a:p>
            <a:r>
              <a:rPr lang="es-419" sz="2800" dirty="0"/>
              <a:t>Comparativa de productividad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151674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5D5AA-CFEE-152B-E0FF-935525C8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Tareas asignadas/estatus</a:t>
            </a:r>
            <a:endParaRPr lang="es-MX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0E7EA6A9-3B1D-E03F-A51C-AC2E257CF3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220815"/>
              </p:ext>
            </p:extLst>
          </p:nvPr>
        </p:nvGraphicFramePr>
        <p:xfrm>
          <a:off x="914400" y="1731963"/>
          <a:ext cx="10353674" cy="25958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732104">
                  <a:extLst>
                    <a:ext uri="{9D8B030D-6E8A-4147-A177-3AD203B41FA5}">
                      <a16:colId xmlns:a16="http://schemas.microsoft.com/office/drawing/2014/main" val="1320493512"/>
                    </a:ext>
                  </a:extLst>
                </a:gridCol>
                <a:gridCol w="3621570">
                  <a:extLst>
                    <a:ext uri="{9D8B030D-6E8A-4147-A177-3AD203B41FA5}">
                      <a16:colId xmlns:a16="http://schemas.microsoft.com/office/drawing/2014/main" val="1147219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Tarea asignada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estatus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258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CU02 Crear contratos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Completada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38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CU06 Crear registro prendario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Completada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217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CU17 Imprimir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Completada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183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CU22 Generar reporte de 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Completada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557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CU12 Buscar artículos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Completada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093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CU36 Dar ganancia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Completada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300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12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5D5AA-CFEE-152B-E0FF-935525C8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Tareas asignadas/estatus</a:t>
            </a:r>
            <a:endParaRPr lang="es-MX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0E7EA6A9-3B1D-E03F-A51C-AC2E257CF3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5769173"/>
              </p:ext>
            </p:extLst>
          </p:nvPr>
        </p:nvGraphicFramePr>
        <p:xfrm>
          <a:off x="913883" y="1580050"/>
          <a:ext cx="10353674" cy="48209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732104">
                  <a:extLst>
                    <a:ext uri="{9D8B030D-6E8A-4147-A177-3AD203B41FA5}">
                      <a16:colId xmlns:a16="http://schemas.microsoft.com/office/drawing/2014/main" val="1320493512"/>
                    </a:ext>
                  </a:extLst>
                </a:gridCol>
                <a:gridCol w="3621570">
                  <a:extLst>
                    <a:ext uri="{9D8B030D-6E8A-4147-A177-3AD203B41FA5}">
                      <a16:colId xmlns:a16="http://schemas.microsoft.com/office/drawing/2014/main" val="1147219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Tarea asignada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estatus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258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Codificación de CU17 Imprimir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Terminada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38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Codificación de CU22 Generar reporte de 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Terminada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217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Codificación de CU36 Dar ganancia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Terminada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183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Codificación de CU12 Buscar artículos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Terminada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557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Codificación de CU02 Crear contratos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Terminada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093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Codificación de  CU06 Crear registro prendario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Terminada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300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Pruebas unitarias CU02 Crear contratos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Pendiente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847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CU06 Crear registro prendario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Terminada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722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CU12 Buscar artículos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Terminada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765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CU17 Imprimir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Terminada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05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CU22 Generar reporte de 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Terminada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401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CU36 Dar ganancia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Pendiente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215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184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FB6DB-0319-210B-170C-418DEDCD8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Tareas asignadas/estatus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FAB3C9-7861-AA3D-478A-46B2B4627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r>
              <a:rPr lang="es-419" dirty="0"/>
              <a:t>Total de tareas 18</a:t>
            </a:r>
          </a:p>
          <a:p>
            <a:pPr marL="36900" indent="0" algn="ctr">
              <a:buNone/>
            </a:pPr>
            <a:r>
              <a:rPr lang="es-419" dirty="0"/>
              <a:t>Terminadas : 18--------------100%</a:t>
            </a:r>
          </a:p>
          <a:p>
            <a:pPr marL="36900" indent="0" algn="ctr">
              <a:buNone/>
            </a:pPr>
            <a:r>
              <a:rPr lang="es-419" dirty="0"/>
              <a:t>En Curso : 0------------ 0%</a:t>
            </a:r>
          </a:p>
          <a:p>
            <a:pPr marL="36900" indent="0" algn="ctr">
              <a:buNone/>
            </a:pPr>
            <a:r>
              <a:rPr lang="es-419" dirty="0"/>
              <a:t>Pendiente: 0------------ 0%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0902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D54C9-B729-07C3-EA41-E40E84D7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Tiempo/Actividad</a:t>
            </a:r>
            <a:endParaRPr lang="es-MX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F67B13C3-2869-C873-3A56-30C0FB6B43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6684656"/>
              </p:ext>
            </p:extLst>
          </p:nvPr>
        </p:nvGraphicFramePr>
        <p:xfrm>
          <a:off x="914400" y="1731963"/>
          <a:ext cx="10353675" cy="42113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19805343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058441634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30716322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Tarea asignada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Categoría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Tiempo (</a:t>
                      </a:r>
                      <a:r>
                        <a:rPr lang="es-419" dirty="0" err="1"/>
                        <a:t>Hrs</a:t>
                      </a:r>
                      <a:r>
                        <a:rPr lang="es-419" dirty="0"/>
                        <a:t>)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347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CU02 Crear contratos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Diseño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01:34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311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CU06 Crear registro prendario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Diseño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01:27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411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CU17 Imprimir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Diseño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01:07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16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CU22 Generar reporte de 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Diseño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00:49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522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CU12 Buscar artículos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Diseño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00:41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671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Diagrama de secuencia CU36 Dar ganancia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Diseño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01:06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841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044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03FF09-E5C5-CF5E-C85D-A65DE70AE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Tiempo/Actividad</a:t>
            </a:r>
            <a:endParaRPr lang="es-MX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30A9DA58-883B-66E3-DDFE-307F1F379F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573217"/>
              </p:ext>
            </p:extLst>
          </p:nvPr>
        </p:nvGraphicFramePr>
        <p:xfrm>
          <a:off x="914400" y="1731963"/>
          <a:ext cx="10353675" cy="42113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976641271"/>
                    </a:ext>
                  </a:extLst>
                </a:gridCol>
                <a:gridCol w="2560955">
                  <a:extLst>
                    <a:ext uri="{9D8B030D-6E8A-4147-A177-3AD203B41FA5}">
                      <a16:colId xmlns:a16="http://schemas.microsoft.com/office/drawing/2014/main" val="2844702555"/>
                    </a:ext>
                  </a:extLst>
                </a:gridCol>
                <a:gridCol w="4341495">
                  <a:extLst>
                    <a:ext uri="{9D8B030D-6E8A-4147-A177-3AD203B41FA5}">
                      <a16:colId xmlns:a16="http://schemas.microsoft.com/office/drawing/2014/main" val="4013054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Tarea asignada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Categoría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Tiempo(</a:t>
                      </a:r>
                      <a:r>
                        <a:rPr lang="es-419" dirty="0" err="1"/>
                        <a:t>Hrs</a:t>
                      </a:r>
                      <a:r>
                        <a:rPr lang="es-419" dirty="0"/>
                        <a:t>)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28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Codificación de CU36 Dar ganancia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Construcción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04:34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49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Codificación de CU12 Buscar artículos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Construcción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09:11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0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Codificación de CU02 Crear contratos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Construcción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12:17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91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Codificación de  CU06 Crear registro prendario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Construcción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08:28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497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Codificación de  CU22 Generar reporte de 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Construcción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03:39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71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Codificación de CU17 Imprimir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Construcción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03:29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381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693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03FF09-E5C5-CF5E-C85D-A65DE70AE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Tiempo/Actividad</a:t>
            </a:r>
            <a:endParaRPr lang="es-MX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30A9DA58-883B-66E3-DDFE-307F1F379F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173989"/>
              </p:ext>
            </p:extLst>
          </p:nvPr>
        </p:nvGraphicFramePr>
        <p:xfrm>
          <a:off x="914400" y="1731963"/>
          <a:ext cx="10353675" cy="42113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976641271"/>
                    </a:ext>
                  </a:extLst>
                </a:gridCol>
                <a:gridCol w="2560955">
                  <a:extLst>
                    <a:ext uri="{9D8B030D-6E8A-4147-A177-3AD203B41FA5}">
                      <a16:colId xmlns:a16="http://schemas.microsoft.com/office/drawing/2014/main" val="2844702555"/>
                    </a:ext>
                  </a:extLst>
                </a:gridCol>
                <a:gridCol w="4341495">
                  <a:extLst>
                    <a:ext uri="{9D8B030D-6E8A-4147-A177-3AD203B41FA5}">
                      <a16:colId xmlns:a16="http://schemas.microsoft.com/office/drawing/2014/main" val="4013054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Tarea asignada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Categoría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Tiempo(</a:t>
                      </a:r>
                      <a:r>
                        <a:rPr lang="es-419" dirty="0" err="1"/>
                        <a:t>Hrs</a:t>
                      </a:r>
                      <a:r>
                        <a:rPr lang="es-419" dirty="0"/>
                        <a:t>)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28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CU06 Crear registro prendario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Pruebas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00:00(No tiene pruebas)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49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CU12 Buscar artículos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Pruebas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00:33:00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03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CU17 Imprimir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Pruebas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00:41:00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591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CU22 Generar reporte de 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Pruebas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00:39:00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497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CU02 Crear contratos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Pruebas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01:09:00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88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 unitarias CU36 Dar ganancia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Pruebas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00:23:00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793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136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61F1A-CB52-2294-865E-BFDB2450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Tiempo/CU</a:t>
            </a:r>
            <a:endParaRPr lang="es-MX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D0C71639-D8FA-2145-0F22-58A70D8BF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381332"/>
              </p:ext>
            </p:extLst>
          </p:nvPr>
        </p:nvGraphicFramePr>
        <p:xfrm>
          <a:off x="1209822" y="1408406"/>
          <a:ext cx="10353675" cy="25908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219188666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1186124627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8549177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/>
                          </a:solidFill>
                        </a:rPr>
                        <a:t>CU</a:t>
                      </a:r>
                      <a:endParaRPr lang="es-MX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/>
                          </a:solidFill>
                        </a:rPr>
                        <a:t>Tiempo Total</a:t>
                      </a:r>
                      <a:endParaRPr lang="es-MX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Promedio(actividades de CU)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005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CU02 Crear contratos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/>
                          </a:solidFill>
                        </a:rPr>
                        <a:t>15:00:00</a:t>
                      </a:r>
                      <a:endParaRPr lang="es-MX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05:00:00 </a:t>
                      </a:r>
                      <a:r>
                        <a:rPr lang="es-MX" dirty="0"/>
                        <a:t>(3actividades)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815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CU06 Crear registro prendario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/>
                          </a:solidFill>
                        </a:rPr>
                        <a:t>09:55:00</a:t>
                      </a:r>
                      <a:endParaRPr lang="es-MX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04:57:30 </a:t>
                      </a:r>
                      <a:r>
                        <a:rPr lang="es-MX" dirty="0"/>
                        <a:t>(2 actividades)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804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CU17 Imprimir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/>
                          </a:solidFill>
                        </a:rPr>
                        <a:t>05:17:00</a:t>
                      </a:r>
                      <a:endParaRPr lang="es-MX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01:45:00 (3 actividades)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8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CU22 Generar reporte de 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/>
                          </a:solidFill>
                        </a:rPr>
                        <a:t>05:07:00</a:t>
                      </a:r>
                      <a:endParaRPr lang="es-MX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01:42:00 (3 actividades)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622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CU12 Buscar artículos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/>
                          </a:solidFill>
                        </a:rPr>
                        <a:t>10:25:00</a:t>
                      </a:r>
                      <a:endParaRPr lang="es-MX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03:28:00 (3 actividades)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304036"/>
                  </a:ext>
                </a:extLst>
              </a:tr>
              <a:tr h="236189"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CU36 Dar ganancia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/>
                          </a:solidFill>
                        </a:rPr>
                        <a:t>6:03:00</a:t>
                      </a:r>
                      <a:endParaRPr lang="es-MX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02:01:00(3 actividades)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960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776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C61FD-9249-E5E8-D008-EE700137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C0F9907F-572B-843C-E6C3-29D23E1F96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6620451"/>
              </p:ext>
            </p:extLst>
          </p:nvPr>
        </p:nvGraphicFramePr>
        <p:xfrm>
          <a:off x="-5324" y="-319315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20791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41747-58DF-CDA4-99E7-48B2B37D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Tiempo/Categoría</a:t>
            </a:r>
            <a:endParaRPr lang="es-MX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142EF4C8-FF14-57F4-76AB-B75218042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2730800"/>
              </p:ext>
            </p:extLst>
          </p:nvPr>
        </p:nvGraphicFramePr>
        <p:xfrm>
          <a:off x="914400" y="1731963"/>
          <a:ext cx="10353675" cy="18542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451225">
                  <a:extLst>
                    <a:ext uri="{9D8B030D-6E8A-4147-A177-3AD203B41FA5}">
                      <a16:colId xmlns:a16="http://schemas.microsoft.com/office/drawing/2014/main" val="2238292685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524643040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4261927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Categoría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Tiempo total (</a:t>
                      </a:r>
                      <a:r>
                        <a:rPr lang="es-419" dirty="0" err="1"/>
                        <a:t>Hrs</a:t>
                      </a:r>
                      <a:r>
                        <a:rPr lang="es-419" dirty="0"/>
                        <a:t>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Promedio(</a:t>
                      </a:r>
                      <a:r>
                        <a:rPr lang="es-419" dirty="0" err="1"/>
                        <a:t>Hrs</a:t>
                      </a:r>
                      <a:r>
                        <a:rPr lang="es-419" dirty="0"/>
                        <a:t>)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077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Diseño (6)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06:44:00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01:07:03 (6 actividades)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212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Construcción (6)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41:38:00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08:16:48 (6 actividades)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619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Pruebas(5)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03:25:00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00:41:00 (6 actividades)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839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Total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dirty="0"/>
                        <a:t>51:47:00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17:16:00 (3 categorías)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907835"/>
                  </a:ext>
                </a:extLst>
              </a:tr>
            </a:tbl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DC3BE6A3-BCA3-B3F0-8754-27103E405F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5853617"/>
              </p:ext>
            </p:extLst>
          </p:nvPr>
        </p:nvGraphicFramePr>
        <p:xfrm>
          <a:off x="2541026" y="3586163"/>
          <a:ext cx="7099300" cy="3569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49939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61F1A-CB52-2294-865E-BFDB2450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77800"/>
            <a:ext cx="10353762" cy="970450"/>
          </a:xfrm>
        </p:spPr>
        <p:txBody>
          <a:bodyPr/>
          <a:lstStyle/>
          <a:p>
            <a:r>
              <a:rPr lang="es-419" dirty="0"/>
              <a:t>Comparativa</a:t>
            </a:r>
            <a:endParaRPr lang="es-MX" dirty="0"/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D0C71639-D8FA-2145-0F22-58A70D8BF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2709399"/>
              </p:ext>
            </p:extLst>
          </p:nvPr>
        </p:nvGraphicFramePr>
        <p:xfrm>
          <a:off x="1032022" y="938506"/>
          <a:ext cx="10004278" cy="5777176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673078">
                  <a:extLst>
                    <a:ext uri="{9D8B030D-6E8A-4147-A177-3AD203B41FA5}">
                      <a16:colId xmlns:a16="http://schemas.microsoft.com/office/drawing/2014/main" val="2219188666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1186124627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854917775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3731251666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3614487377"/>
                    </a:ext>
                  </a:extLst>
                </a:gridCol>
              </a:tblGrid>
              <a:tr h="562949"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>
                          <a:solidFill>
                            <a:schemeClr val="tx1"/>
                          </a:solidFill>
                        </a:rPr>
                        <a:t>CU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>
                          <a:solidFill>
                            <a:schemeClr val="tx1"/>
                          </a:solidFill>
                        </a:rPr>
                        <a:t>Tiempo Total Primera Entrega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Tiempo Total Segunda  Entrega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Promedio Primera Entrega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Promedio Segunda Entrega</a:t>
                      </a:r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005534"/>
                  </a:ext>
                </a:extLst>
              </a:tr>
              <a:tr h="562949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CU02 Crear contratos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05:04:00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>
                          <a:solidFill>
                            <a:schemeClr val="tx1"/>
                          </a:solidFill>
                        </a:rPr>
                        <a:t>15:00:00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01:41:18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05:00:00</a:t>
                      </a:r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815368"/>
                  </a:ext>
                </a:extLst>
              </a:tr>
              <a:tr h="804214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CU06 Crear registro prendario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02:25:00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>
                          <a:solidFill>
                            <a:schemeClr val="tx1"/>
                          </a:solidFill>
                        </a:rPr>
                        <a:t>09:55:00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00:48:00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04:57:30</a:t>
                      </a:r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804875"/>
                  </a:ext>
                </a:extLst>
              </a:tr>
              <a:tr h="804214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CU17 Imprimir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01:46:00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>
                          <a:solidFill>
                            <a:schemeClr val="tx1"/>
                          </a:solidFill>
                        </a:rPr>
                        <a:t>05:17:00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00:35:18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01:45:00</a:t>
                      </a:r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8256"/>
                  </a:ext>
                </a:extLst>
              </a:tr>
              <a:tr h="804214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CU22 Generar reporte de 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01:52:00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>
                          <a:solidFill>
                            <a:schemeClr val="tx1"/>
                          </a:solidFill>
                        </a:rPr>
                        <a:t>05:07:00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00:37:18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01:42:00</a:t>
                      </a:r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622715"/>
                  </a:ext>
                </a:extLst>
              </a:tr>
              <a:tr h="56294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CU12 Buscar artículos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02:01:00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>
                          <a:solidFill>
                            <a:schemeClr val="tx1"/>
                          </a:solidFill>
                        </a:rPr>
                        <a:t>10:25:00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00:40:18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03:28:00</a:t>
                      </a:r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304036"/>
                  </a:ext>
                </a:extLst>
              </a:tr>
              <a:tr h="804214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CU36 Dar ganancia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01:32:00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>
                          <a:solidFill>
                            <a:schemeClr val="tx1"/>
                          </a:solidFill>
                        </a:rPr>
                        <a:t>06:03:00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00:30:00</a:t>
                      </a:r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dirty="0"/>
                        <a:t>02:01:00</a:t>
                      </a:r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960831"/>
                  </a:ext>
                </a:extLst>
              </a:tr>
              <a:tr h="804214"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/>
                        <a:t>15:16:00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51:47:00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68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830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1517B56BCE15546B89731E7833FA6CB" ma:contentTypeVersion="9" ma:contentTypeDescription="Crear nuevo documento." ma:contentTypeScope="" ma:versionID="8e976f94f86bbb898f35539ce4a977eb">
  <xsd:schema xmlns:xsd="http://www.w3.org/2001/XMLSchema" xmlns:xs="http://www.w3.org/2001/XMLSchema" xmlns:p="http://schemas.microsoft.com/office/2006/metadata/properties" xmlns:ns2="b1f81579-f575-41c8-b905-36d9e031bc0b" xmlns:ns3="32b39d33-8e07-42c9-927a-99592a3923ae" targetNamespace="http://schemas.microsoft.com/office/2006/metadata/properties" ma:root="true" ma:fieldsID="0d9acaad6c5a4d8f048775951d18abe6" ns2:_="" ns3:_="">
    <xsd:import namespace="b1f81579-f575-41c8-b905-36d9e031bc0b"/>
    <xsd:import namespace="32b39d33-8e07-42c9-927a-99592a3923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81579-f575-41c8-b905-36d9e031bc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b7ce6e4b-a54d-4d0a-af3c-a20d00b3f8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b39d33-8e07-42c9-927a-99592a3923a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8825b6f-ed86-4fec-91ad-e97304bc3d50}" ma:internalName="TaxCatchAll" ma:showField="CatchAllData" ma:web="32b39d33-8e07-42c9-927a-99592a3923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B1FA2A-912C-488C-A44B-E9522BA4AD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A03344-735B-43A2-86F4-E6842CD0E6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f81579-f575-41c8-b905-36d9e031bc0b"/>
    <ds:schemaRef ds:uri="32b39d33-8e07-42c9-927a-99592a3923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334</TotalTime>
  <Words>565</Words>
  <Application>Microsoft Office PowerPoint</Application>
  <PresentationFormat>Panorámica</PresentationFormat>
  <Paragraphs>202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Calisto MT</vt:lpstr>
      <vt:lpstr>Wingdings 2</vt:lpstr>
      <vt:lpstr>Pizarra</vt:lpstr>
      <vt:lpstr>Avance 01/06/2023</vt:lpstr>
      <vt:lpstr>Agenda</vt:lpstr>
      <vt:lpstr>Tareas asignadas/estatus</vt:lpstr>
      <vt:lpstr>Tareas asignadas/estatus</vt:lpstr>
      <vt:lpstr>Tareas asignadas/estatus</vt:lpstr>
      <vt:lpstr>Tiempo/Actividad</vt:lpstr>
      <vt:lpstr>Tiempo/Actividad</vt:lpstr>
      <vt:lpstr>Tiempo/Actividad</vt:lpstr>
      <vt:lpstr>Tiempo/CU</vt:lpstr>
      <vt:lpstr>Presentación de PowerPoint</vt:lpstr>
      <vt:lpstr>Tiempo/Categoría</vt:lpstr>
      <vt:lpstr>Comparativa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Jonathan Hernández Martínez</dc:creator>
  <cp:lastModifiedBy>HERNANDEZ MARTINEZ JONATHAN</cp:lastModifiedBy>
  <cp:revision>10</cp:revision>
  <dcterms:created xsi:type="dcterms:W3CDTF">2023-05-10T19:38:57Z</dcterms:created>
  <dcterms:modified xsi:type="dcterms:W3CDTF">2023-06-01T06:05:22Z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0x010100C1517B56BCE15546B89731E7833FA6CB</vt:lpwstr>
  </property>
</Properties>
</file>